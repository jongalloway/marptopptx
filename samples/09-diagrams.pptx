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</Types>
</file>

<file path=_rels/.rels>&#65279;<?xml version="1.0" encoding="utf-8"?>
<Relationships xmlns="http://schemas.openxmlformats.org/package/2006/relationships">
  <Relationship Type="http://schemas.openxmlformats.org/officeDocument/2006/relationships/officeDocument" Target="ppt/presentation.xml" Id="rId1" />
  <Relationship Type="http://schemas.openxmlformats.org/package/2006/relationships/metadata/core-properties" Target="docProps/core.xml" Id="rId2" />
  <Relationship Type="http://schemas.openxmlformats.org/officeDocument/2006/relationships/extended-properties" Target="docProps/app.xml" Id="rId3" />
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1"/>
  </p:sldMasterIdLst>
  <p:sldIdLst>
    <p:sldId xmlns:r="http://schemas.openxmlformats.org/officeDocument/2006/relationships" id="256" r:id="rId2"/>
    <p:sldId xmlns:r="http://schemas.openxmlformats.org/officeDocument/2006/relationships" id="257" r:id="rId3"/>
    <p:sldId xmlns:r="http://schemas.openxmlformats.org/officeDocument/2006/relationships" id="258" r:id="rId8"/>
    <p:sldId xmlns:r="http://schemas.openxmlformats.org/officeDocument/2006/relationships" id="259" r:id="rId9"/>
    <p:sldId xmlns:r="http://schemas.openxmlformats.org/officeDocument/2006/relationships" id="260" r:id="rId10"/>
    <p:sldId xmlns:r="http://schemas.openxmlformats.org/officeDocument/2006/relationships" id="261" r:id="rId11"/>
    <p:sldId xmlns:r="http://schemas.openxmlformats.org/officeDocument/2006/relationships" id="262" r:id="rId12"/>
    <p:sldId xmlns:r="http://schemas.openxmlformats.org/officeDocument/2006/relationships" id="263" r:id="rId13"/>
    <p:sldId xmlns:r="http://schemas.openxmlformats.org/officeDocument/2006/relationships" id="264" r:id="rId14"/>
    <p:sldId xmlns:r="http://schemas.openxmlformats.org/officeDocument/2006/relationships" id="265" r:id="rId15"/>
    <p:sldId xmlns:r="http://schemas.openxmlformats.org/officeDocument/2006/relationships" id="266" r:id="rId16"/>
    <p:sldId xmlns:r="http://schemas.openxmlformats.org/officeDocument/2006/relationships" id="267" r:id="rId17"/>
  </p:sldIdLst>
  <p:sldSz cx="12192000" cy="6858000" type="screen16x9"/>
  <p:notesSz cx="6858000" cy="9144000"/>
  <p:defaultTextStyle/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viewPr xmlns:a="http://schemas.openxmlformats.org/drawingml/2006/main" xmlns:r="http://schemas.openxmlformats.org/officeDocument/2006/relationships" xmlns="http://schemas.openxmlformats.org/presentationml/2006/main">
  <normalViewPr horzBarState="maximized">
    <restoredLeft sz="15611"/>
    <restoredTop sz="94610"/>
  </normalViewPr>
  <slideViewPr>
    <cSldViewPr snapToGrid="0" snapToObjects="1">
      <cViewPr varScale="1">
        <scale>
          <a:sx n="136" d="100"/>
          <a:sy n="136" d="100"/>
        </scale>
        <origin x="216" y="312"/>
      </cViewPr>
      <guideLst/>
    </cSldViewPr>
  </slideViewPr>
  <notesTextViewPr>
    <cViewPr>
      <scale>
        <a:sx n="1" d="1"/>
        <a:sy n="1" d="1"/>
      </scale>
      <origin x="0" y="0"/>
    </cViewPr>
  </notesTextViewPr>
  <gridSpacing cx="76200" cy="76200"/>
</viewPr>
</file>

<file path=ppt/_rels/presentation.xml.rels>&#65279;<?xml version="1.0" encoding="utf-8"?>
<Relationships xmlns="http://schemas.openxmlformats.org/package/2006/relationships">
  <Relationship Type="http://schemas.openxmlformats.org/officeDocument/2006/relationships/slideMaster" Target="slideMasters/slideMaster1.xml" Id="rId1" />
  <Relationship Type="http://schemas.openxmlformats.org/officeDocument/2006/relationships/theme" Target="theme/theme1.xml" Id="rId6" />
  <Relationship Type="http://schemas.openxmlformats.org/officeDocument/2006/relationships/presProps" Target="presProps.xml" Id="rId4" />
  <Relationship Type="http://schemas.openxmlformats.org/officeDocument/2006/relationships/viewProps" Target="viewProps.xml" Id="rId5" />
  <Relationship Type="http://schemas.openxmlformats.org/officeDocument/2006/relationships/tableStyles" Target="tableStyles.xml" Id="rId7" />
  <Relationship Type="http://schemas.openxmlformats.org/officeDocument/2006/relationships/slide" Target="slides/slide1.xml" Id="rId2" />
  <Relationship Type="http://schemas.openxmlformats.org/officeDocument/2006/relationships/slide" Target="slides/slide2.xml" Id="rId3" />
  <Relationship Type="http://schemas.openxmlformats.org/officeDocument/2006/relationships/slide" Target="slides/slide3.xml" Id="rId8" />
  <Relationship Type="http://schemas.openxmlformats.org/officeDocument/2006/relationships/slide" Target="slides/slide4.xml" Id="rId9" />
  <Relationship Type="http://schemas.openxmlformats.org/officeDocument/2006/relationships/slide" Target="slides/slide5.xml" Id="rId10" />
  <Relationship Type="http://schemas.openxmlformats.org/officeDocument/2006/relationships/slide" Target="slides/slide6.xml" Id="rId11" />
  <Relationship Type="http://schemas.openxmlformats.org/officeDocument/2006/relationships/slide" Target="slides/slide7.xml" Id="rId12" />
  <Relationship Type="http://schemas.openxmlformats.org/officeDocument/2006/relationships/slide" Target="slides/slide8.xml" Id="rId13" />
  <Relationship Type="http://schemas.openxmlformats.org/officeDocument/2006/relationships/slide" Target="slides/slide9.xml" Id="rId14" />
  <Relationship Type="http://schemas.openxmlformats.org/officeDocument/2006/relationships/slide" Target="slides/slide10.xml" Id="rId15" />
  <Relationship Type="http://schemas.openxmlformats.org/officeDocument/2006/relationships/slide" Target="slides/slide11.xml" Id="rId16" />
  <Relationship Type="http://schemas.openxmlformats.org/officeDocument/2006/relationships/slide" Target="slides/slide12.xml" Id="rId17" />
</Relationships>
</file>

<file path=ppt/slideLayouts/_rels/slideLayout1.xml.rels>&#65279;<?xml version="1.0" encoding="utf-8"?>
<Relationships xmlns="http://schemas.openxmlformats.org/package/2006/relationships">
  <Relationship Type="http://schemas.openxmlformats.org/officeDocument/2006/relationships/slideMaster" Target="../slideMasters/slideMaster1.xml" Id="rId1" />
</Relationships>
</file>

<file path=ppt/slideLayouts/_rels/slideLayout2.xml.rels>&#65279;<?xml version="1.0" encoding="utf-8"?>
<Relationships xmlns="http://schemas.openxmlformats.org/package/2006/relationships">
  <Relationship Type="http://schemas.openxmlformats.org/officeDocument/2006/relationships/slideMaster" Target="../slideMasters/slideMaster1.xml" Id="rId1" />
</Relationships>
</file>

<file path=ppt/slideLayouts/slideLayout1.xml><?xml version="1.0" encoding="utf-8"?>
<p:sldLayout xmlns:p="http://schemas.openxmlformats.org/presentationml/2006/main" type="tx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8800"/>
            <a:ext cx="10515600" cy="435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 preserve="1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1.xml" Id="rId1" />
  <Relationship Type="http://schemas.openxmlformats.org/officeDocument/2006/relationships/slideLayout" Target="../slideLayouts/slideLayout2.xml" Id="rId2" />
  <Relationship Type="http://schemas.openxmlformats.org/officeDocument/2006/relationships/theme" Target="../theme/theme1.xml" Id="rId3" />
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</p:sldLayoutIdLst>
  <p:txStyles>
    <p:titleStyle/>
    <p:bodyStyle/>
    <p:otherStyle/>
  </p:txStyles>
</p:sldMaster>
</file>

<file path=ppt/slides/_rels/slide1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1.xml" Id="rId1" />
</Relationships>
</file>

<file path=ppt/slides/_rels/slide2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1.xml" Id="rId1" />
  <Relationship Type="http://schemas.openxmlformats.org/officeDocument/2006/relationships/image" Target="../media/image.svg" Id="Ra3b847127fdd49a2" />
</Relationships>
</file>

<file path=ppt/slides/_rels/slide3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1.xml" Id="rId1" />
  <Relationship Type="http://schemas.openxmlformats.org/officeDocument/2006/relationships/image" Target="../media/image2.svg" Id="Rea4df033630049a4" />
</Relationships>
</file>

<file path=ppt/slides/_rels/slide4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1.xml" Id="rId1" />
  <Relationship Type="http://schemas.openxmlformats.org/officeDocument/2006/relationships/image" Target="../media/image3.svg" Id="R805af0e8fc7f453e" />
</Relationships>
</file>

<file path=ppt/slides/_rels/slide5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1.xml" Id="rId1" />
  <Relationship Type="http://schemas.openxmlformats.org/officeDocument/2006/relationships/image" Target="../media/image4.svg" Id="R02c5a624f1e74939" />
</Relationships>
</file>

<file path=ppt/slides/_rels/slide6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1.xml" Id="rId1" />
  <Relationship Type="http://schemas.openxmlformats.org/officeDocument/2006/relationships/image" Target="../media/image5.svg" Id="Re75ff8f9f7ec462d" />
</Relationships>
</file>

<file path=ppt/slides/_rels/slide7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1.xml" Id="rId1" />
  <Relationship Type="http://schemas.openxmlformats.org/officeDocument/2006/relationships/image" Target="../media/image6.svg" Id="R9b70bb5017af44d9" />
</Relationships>
</file>

<file path=ppt/slides/_rels/slide8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1.xml" Id="rId1" />
  <Relationship Type="http://schemas.openxmlformats.org/officeDocument/2006/relationships/image" Target="../media/image7.svg" Id="R794e86589b464eb5" />
</Relationships>
</file>

<file path=ppt/slides/_rels/slide9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1.xml" Id="rId1" />
  <Relationship Type="http://schemas.openxmlformats.org/officeDocument/2006/relationships/image" Target="../media/image8.svg" Id="R44862ec1c2064e8a" />
</Relationships>
</file>

<file path=ppt/slides/_rels/slide10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1.xml" Id="rId1" />
  <Relationship Type="http://schemas.openxmlformats.org/officeDocument/2006/relationships/image" Target="../media/image9.svg" Id="Rcb6e47ab8b4b4f36" />
</Relationships>
</file>

<file path=ppt/slides/_rels/slide11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1.xml" Id="rId1" />
  <Relationship Type="http://schemas.openxmlformats.org/officeDocument/2006/relationships/image" Target="../media/image10.svg" Id="Ra9611a3004ff45ee" />
</Relationships>
</file>

<file path=ppt/slides/_rels/slide12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1.xml" Id="rId1" />
  <Relationship Type="http://schemas.openxmlformats.org/officeDocument/2006/relationships/image" Target="../media/image11.svg" Id="R183e06132b2f4736" />
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endParaRPr lang="en-US" sz="100"/>
          </a:p>
        </p:txBody>
      </p:sp>
      <p:sp>
        <p:nvSpPr>
          <p:cNvPr id="3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70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0F172A"/>
                </a:solidFill>
                <a:latin typeface="Aptos Display"/>
              </a:rPr>
              <a:t>Diagram Showcase</a:t>
            </a:r>
            <a:endParaRPr lang="en-US" sz="3000"/>
          </a:p>
        </p:txBody>
      </p:sp>
      <p:sp>
        <p:nvSpPr>
          <p:cNvPr id="4" name="Tex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9950"/>
            <a:ext cx="10668000" cy="89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r>
              <a:rPr lang="en-US" sz="2400" b="0">
                <a:solidFill>
                  <a:srgbClr val="1F2937"/>
                </a:solidFill>
                <a:latin typeface="Aptos"/>
              </a:rPr>
              <a:t>MarpToPptx can render both </a:t>
            </a:r>
            <a:r>
              <a:rPr lang="en-US" sz="2400" b="0">
                <a:solidFill>
                  <a:srgbClr val="1F2937"/>
                </a:solidFill>
                <a:latin typeface="Cascadia Mono"/>
              </a:rPr>
              <a:t>mermaid</a:t>
            </a:r>
            <a:r>
              <a:rPr lang="en-US" sz="2400" b="0">
                <a:solidFill>
                  <a:srgbClr val="1F2937"/>
                </a:solidFill>
                <a:latin typeface="Aptos"/>
              </a:rPr>
              <a:t> and </a:t>
            </a:r>
            <a:r>
              <a:rPr lang="en-US" sz="2400" b="0">
                <a:solidFill>
                  <a:srgbClr val="1F2937"/>
                </a:solidFill>
                <a:latin typeface="Cascadia Mono"/>
              </a:rPr>
              <a:t>diagram</a:t>
            </a:r>
            <a:r>
              <a:rPr lang="en-US" sz="2400" b="0">
                <a:solidFill>
                  <a:srgbClr val="1F2937"/>
                </a:solidFill>
                <a:latin typeface="Aptos"/>
              </a:rPr>
              <a:t> fenced blocks through DiagramForge.</a:t>
            </a:r>
            <a:endParaRPr lang="en-US" sz="2400"/>
          </a:p>
        </p:txBody>
      </p:sp>
      <p:sp>
        <p:nvSpPr>
          <p:cNvPr id="5" name="Tex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800"/>
            <a:ext cx="1143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1F2937"/>
                </a:solidFill>
                <a:latin typeface="Aptos"/>
              </a:rPr>
              <a:t>DiagramForge in MarpToPptx</a:t>
            </a:r>
            <a:endParaRPr lang="en-US" sz="1000"/>
          </a:p>
        </p:txBody>
      </p:sp>
      <p:sp>
        <p:nvSpPr>
          <p:cNvPr id="6" name="Tex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604000"/>
            <a:ext cx="1056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1F2937"/>
                </a:solidFill>
                <a:latin typeface="Aptos"/>
              </a:rPr>
              <a:t>Mermaid and diagram fences</a:t>
            </a:r>
            <a:endParaRPr lang="en-US" sz="1000"/>
          </a:p>
        </p:txBody>
      </p:sp>
      <p:sp>
        <p:nvSpPr>
          <p:cNvPr id="7" name="Slide Numb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04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pPr algn="r"/>
            <a:fld id="{FF1F80DC-FDF2-4A1F-9F03-56A393F4587F}" type="slidenum">
              <a:rPr lang="en-US" sz="1000">
                <a:solidFill>
                  <a:srgbClr val="1F2937"/>
                </a:solidFill>
                <a:latin typeface="Aptos"/>
              </a:rPr>
              <a:t>1</a:t>
            </a:fld>
            <a:endParaRPr lang="en-US" sz="1000">
              <a:solidFill>
                <a:srgbClr val="1F2937"/>
              </a:solidFill>
              <a:latin typeface="Aptos"/>
            </a:endParaRPr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endParaRPr lang="en-US" sz="100"/>
          </a:p>
        </p:txBody>
      </p:sp>
      <p:sp>
        <p:nvSpPr>
          <p:cNvPr id="3" name="Tex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7000"/>
            <a:ext cx="10668000" cy="455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0F172A"/>
                </a:solidFill>
                <a:latin typeface="Aptos Display"/>
              </a:rPr>
              <a:t>Mermaid Flowchart</a:t>
            </a:r>
            <a:endParaRPr lang="en-US" sz="2600"/>
          </a:p>
        </p:txBody>
      </p:sp>
      <p:pic>
        <p:nvPicPr>
          <p:cNvPr id="4" name="Mermaid Diagram" descr="Mermaid Diagram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>
            <a:extLst>
              <a:ext uri="{96DAC541-7B7A-43D3-8B79-37D633B846F1}">
                <asvg:svgBlip xmlns:r="http://schemas.openxmlformats.org/officeDocument/2006/relationships" xmlns:asvg="http://schemas.microsoft.com/office/drawing/2016/SVG/main" r:embed="Ra3b847127fdd49a2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0" y="2641824"/>
            <a:ext cx="10668000" cy="1673412"/>
          </a:xfrm>
          <a:prstGeom xmlns:a="http://schemas.openxmlformats.org/drawingml/2006/main" prst="rect">
            <a:avLst/>
          </a:prstGeom>
        </p:spPr>
      </p:pic>
      <p:sp>
        <p:nvSpPr>
          <p:cNvPr id="5" name="Tex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800"/>
            <a:ext cx="1143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1F2937"/>
                </a:solidFill>
                <a:latin typeface="Aptos"/>
              </a:rPr>
              <a:t>DiagramForge in MarpToPptx</a:t>
            </a:r>
            <a:endParaRPr lang="en-US" sz="1000"/>
          </a:p>
        </p:txBody>
      </p:sp>
      <p:sp>
        <p:nvSpPr>
          <p:cNvPr id="6" name="Tex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604000"/>
            <a:ext cx="1056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1F2937"/>
                </a:solidFill>
                <a:latin typeface="Aptos"/>
              </a:rPr>
              <a:t>Mermaid and diagram fences</a:t>
            </a:r>
            <a:endParaRPr lang="en-US" sz="1000"/>
          </a:p>
        </p:txBody>
      </p:sp>
      <p:sp>
        <p:nvSpPr>
          <p:cNvPr id="7" name="Slide Numb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04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pPr algn="r"/>
            <a:fld id="{313EC061-7836-4366-9133-69CAA7AAE602}" type="slidenum">
              <a:rPr lang="en-US" sz="1000">
                <a:solidFill>
                  <a:srgbClr val="1F2937"/>
                </a:solidFill>
                <a:latin typeface="Aptos"/>
              </a:rPr>
              <a:t>2</a:t>
            </a:fld>
            <a:endParaRPr lang="en-US" sz="1000">
              <a:solidFill>
                <a:srgbClr val="1F2937"/>
              </a:solidFill>
              <a:latin typeface="Aptos"/>
            </a:endParaRPr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endParaRPr lang="en-US" sz="100"/>
          </a:p>
        </p:txBody>
      </p:sp>
      <p:sp>
        <p:nvSpPr>
          <p:cNvPr id="3" name="Tex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7000"/>
            <a:ext cx="10668000" cy="455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0F172A"/>
                </a:solidFill>
                <a:latin typeface="Aptos Display"/>
              </a:rPr>
              <a:t>Mermaid Block Diagram</a:t>
            </a:r>
            <a:endParaRPr lang="en-US" sz="2600"/>
          </a:p>
        </p:txBody>
      </p:sp>
      <p:pic>
        <p:nvPicPr>
          <p:cNvPr id="4" name="Mermaid Diagram" descr="Mermaid Diagram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>
            <a:extLst>
              <a:ext uri="{96DAC541-7B7A-43D3-8B79-37D633B846F1}">
                <asvg:svgBlip xmlns:r="http://schemas.openxmlformats.org/officeDocument/2006/relationships" xmlns:asvg="http://schemas.microsoft.com/office/drawing/2016/SVG/main" r:embed="Rea4df033630049a4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407833" y="2081530"/>
            <a:ext cx="5376333" cy="2794000"/>
          </a:xfrm>
          <a:prstGeom xmlns:a="http://schemas.openxmlformats.org/drawingml/2006/main" prst="rect">
            <a:avLst/>
          </a:prstGeom>
        </p:spPr>
      </p:pic>
      <p:sp>
        <p:nvSpPr>
          <p:cNvPr id="5" name="Tex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800"/>
            <a:ext cx="1143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1F2937"/>
                </a:solidFill>
                <a:latin typeface="Aptos"/>
              </a:rPr>
              <a:t>DiagramForge in MarpToPptx</a:t>
            </a:r>
            <a:endParaRPr lang="en-US" sz="1000"/>
          </a:p>
        </p:txBody>
      </p:sp>
      <p:sp>
        <p:nvSpPr>
          <p:cNvPr id="6" name="Tex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604000"/>
            <a:ext cx="1056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1F2937"/>
                </a:solidFill>
                <a:latin typeface="Aptos"/>
              </a:rPr>
              <a:t>Mermaid and diagram fences</a:t>
            </a:r>
            <a:endParaRPr lang="en-US" sz="1000"/>
          </a:p>
        </p:txBody>
      </p:sp>
      <p:sp>
        <p:nvSpPr>
          <p:cNvPr id="7" name="Slide Numb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04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pPr algn="r"/>
            <a:fld id="{EA887264-610B-43B7-BD16-A02D2BB1C9ED}" type="slidenum">
              <a:rPr lang="en-US" sz="1000">
                <a:solidFill>
                  <a:srgbClr val="1F2937"/>
                </a:solidFill>
                <a:latin typeface="Aptos"/>
              </a:rPr>
              <a:t>3</a:t>
            </a:fld>
            <a:endParaRPr lang="en-US" sz="1000">
              <a:solidFill>
                <a:srgbClr val="1F2937"/>
              </a:solidFill>
              <a:latin typeface="Aptos"/>
            </a:endParaRPr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endParaRPr lang="en-US" sz="100"/>
          </a:p>
        </p:txBody>
      </p:sp>
      <p:sp>
        <p:nvSpPr>
          <p:cNvPr id="3" name="Tex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7000"/>
            <a:ext cx="10668000" cy="455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0F172A"/>
                </a:solidFill>
                <a:latin typeface="Aptos Display"/>
              </a:rPr>
              <a:t>Mermaid State Diagram</a:t>
            </a:r>
            <a:endParaRPr lang="en-US" sz="2600"/>
          </a:p>
        </p:txBody>
      </p:sp>
      <p:pic>
        <p:nvPicPr>
          <p:cNvPr id="4" name="Mermaid Diagram" descr="Mermaid Diagram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>
            <a:extLst>
              <a:ext uri="{96DAC541-7B7A-43D3-8B79-37D633B846F1}">
                <asvg:svgBlip xmlns:r="http://schemas.openxmlformats.org/officeDocument/2006/relationships" xmlns:asvg="http://schemas.microsoft.com/office/drawing/2016/SVG/main" r:embed="R805af0e8fc7f453e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615066" y="2081530"/>
            <a:ext cx="961869" cy="2794000"/>
          </a:xfrm>
          <a:prstGeom xmlns:a="http://schemas.openxmlformats.org/drawingml/2006/main" prst="rect">
            <a:avLst/>
          </a:prstGeom>
        </p:spPr>
      </p:pic>
      <p:sp>
        <p:nvSpPr>
          <p:cNvPr id="5" name="Tex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800"/>
            <a:ext cx="1143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1F2937"/>
                </a:solidFill>
                <a:latin typeface="Aptos"/>
              </a:rPr>
              <a:t>DiagramForge in MarpToPptx</a:t>
            </a:r>
            <a:endParaRPr lang="en-US" sz="1000"/>
          </a:p>
        </p:txBody>
      </p:sp>
      <p:sp>
        <p:nvSpPr>
          <p:cNvPr id="6" name="Tex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604000"/>
            <a:ext cx="1056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1F2937"/>
                </a:solidFill>
                <a:latin typeface="Aptos"/>
              </a:rPr>
              <a:t>Mermaid and diagram fences</a:t>
            </a:r>
            <a:endParaRPr lang="en-US" sz="1000"/>
          </a:p>
        </p:txBody>
      </p:sp>
      <p:sp>
        <p:nvSpPr>
          <p:cNvPr id="7" name="Slide Numb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04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pPr algn="r"/>
            <a:fld id="{2AD623A6-2F08-4BFD-8A20-25952ED86C66}" type="slidenum">
              <a:rPr lang="en-US" sz="1000">
                <a:solidFill>
                  <a:srgbClr val="1F2937"/>
                </a:solidFill>
                <a:latin typeface="Aptos"/>
              </a:rPr>
              <a:t>4</a:t>
            </a:fld>
            <a:endParaRPr lang="en-US" sz="1000">
              <a:solidFill>
                <a:srgbClr val="1F2937"/>
              </a:solidFill>
              <a:latin typeface="Aptos"/>
            </a:endParaRPr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endParaRPr lang="en-US" sz="100"/>
          </a:p>
        </p:txBody>
      </p:sp>
      <p:sp>
        <p:nvSpPr>
          <p:cNvPr id="3" name="Tex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7000"/>
            <a:ext cx="10668000" cy="455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0F172A"/>
                </a:solidFill>
                <a:latin typeface="Aptos Display"/>
              </a:rPr>
              <a:t>Mermaid Mindmap</a:t>
            </a:r>
            <a:endParaRPr lang="en-US" sz="2600"/>
          </a:p>
        </p:txBody>
      </p:sp>
      <p:pic>
        <p:nvPicPr>
          <p:cNvPr id="4" name="Mermaid Diagram" descr="Mermaid Diagram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>
            <a:extLst>
              <a:ext uri="{96DAC541-7B7A-43D3-8B79-37D633B846F1}">
                <asvg:svgBlip xmlns:r="http://schemas.openxmlformats.org/officeDocument/2006/relationships" xmlns:asvg="http://schemas.microsoft.com/office/drawing/2016/SVG/main" r:embed="R02c5a624f1e74939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093839" y="2081530"/>
            <a:ext cx="10004323" cy="2794000"/>
          </a:xfrm>
          <a:prstGeom xmlns:a="http://schemas.openxmlformats.org/drawingml/2006/main" prst="rect">
            <a:avLst/>
          </a:prstGeom>
        </p:spPr>
      </p:pic>
      <p:sp>
        <p:nvSpPr>
          <p:cNvPr id="5" name="Tex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800"/>
            <a:ext cx="1143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1F2937"/>
                </a:solidFill>
                <a:latin typeface="Aptos"/>
              </a:rPr>
              <a:t>DiagramForge in MarpToPptx</a:t>
            </a:r>
            <a:endParaRPr lang="en-US" sz="1000"/>
          </a:p>
        </p:txBody>
      </p:sp>
      <p:sp>
        <p:nvSpPr>
          <p:cNvPr id="6" name="Tex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604000"/>
            <a:ext cx="1056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1F2937"/>
                </a:solidFill>
                <a:latin typeface="Aptos"/>
              </a:rPr>
              <a:t>Mermaid and diagram fences</a:t>
            </a:r>
            <a:endParaRPr lang="en-US" sz="1000"/>
          </a:p>
        </p:txBody>
      </p:sp>
      <p:sp>
        <p:nvSpPr>
          <p:cNvPr id="7" name="Slide Numb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04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pPr algn="r"/>
            <a:fld id="{5F51248A-EECB-43D4-8FA3-6A46C50F9203}" type="slidenum">
              <a:rPr lang="en-US" sz="1000">
                <a:solidFill>
                  <a:srgbClr val="1F2937"/>
                </a:solidFill>
                <a:latin typeface="Aptos"/>
              </a:rPr>
              <a:t>5</a:t>
            </a:fld>
            <a:endParaRPr lang="en-US" sz="1000">
              <a:solidFill>
                <a:srgbClr val="1F2937"/>
              </a:solidFill>
              <a:latin typeface="Aptos"/>
            </a:endParaRPr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endParaRPr lang="en-US" sz="100"/>
          </a:p>
        </p:txBody>
      </p:sp>
      <p:sp>
        <p:nvSpPr>
          <p:cNvPr id="3" name="Tex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10668000" cy="439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0F172A"/>
                </a:solidFill>
                <a:latin typeface="Aptos Display"/>
              </a:rPr>
              <a:t>Mermaid With Dracula Theme</a:t>
            </a:r>
            <a:endParaRPr lang="en-US" sz="2600"/>
          </a:p>
        </p:txBody>
      </p:sp>
      <p:sp>
        <p:nvSpPr>
          <p:cNvPr id="4" name="Tex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76020"/>
            <a:ext cx="10668000" cy="1310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r>
              <a:rPr lang="en-US" sz="2400" b="0">
                <a:solidFill>
                  <a:srgbClr val="1F2937"/>
                </a:solidFill>
                <a:latin typeface="Aptos"/>
              </a:rPr>
              <a:t>This Mermaid diagram uses DiagramForge frontmatter to switch to the built-in Dracula theme and apply additional styling overrides.</a:t>
            </a:r>
            <a:endParaRPr lang="en-US" sz="2400"/>
          </a:p>
        </p:txBody>
      </p:sp>
      <p:pic>
        <p:nvPicPr>
          <p:cNvPr id="5" name="Mermaid Diagram" descr="Mermaid Diagram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>
            <a:extLst>
              <a:ext uri="{96DAC541-7B7A-43D3-8B79-37D633B846F1}">
                <asvg:svgBlip xmlns:r="http://schemas.openxmlformats.org/officeDocument/2006/relationships" xmlns:asvg="http://schemas.microsoft.com/office/drawing/2016/SVG/main" r:embed="Re75ff8f9f7ec462d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0" y="3147060"/>
            <a:ext cx="10668000" cy="1778000"/>
          </a:xfrm>
          <a:prstGeom xmlns:a="http://schemas.openxmlformats.org/drawingml/2006/main" prst="rect">
            <a:avLst/>
          </a:prstGeom>
        </p:spPr>
      </p:pic>
      <p:sp>
        <p:nvSpPr>
          <p:cNvPr id="6" name="Tex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800"/>
            <a:ext cx="1143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1F2937"/>
                </a:solidFill>
                <a:latin typeface="Aptos"/>
              </a:rPr>
              <a:t>DiagramForge in MarpToPptx</a:t>
            </a:r>
            <a:endParaRPr lang="en-US" sz="1000"/>
          </a:p>
        </p:txBody>
      </p:sp>
      <p:sp>
        <p:nvSpPr>
          <p:cNvPr id="7" name="Tex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604000"/>
            <a:ext cx="1056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1F2937"/>
                </a:solidFill>
                <a:latin typeface="Aptos"/>
              </a:rPr>
              <a:t>Mermaid and diagram fences</a:t>
            </a:r>
            <a:endParaRPr lang="en-US" sz="1000"/>
          </a:p>
        </p:txBody>
      </p:sp>
      <p:sp>
        <p:nvSpPr>
          <p:cNvPr id="8" name="Slide Numb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04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pPr algn="r"/>
            <a:fld id="{4B0E36A7-2FD2-44AA-A454-A6CADE69E0DD}" type="slidenum">
              <a:rPr lang="en-US" sz="1000">
                <a:solidFill>
                  <a:srgbClr val="1F2937"/>
                </a:solidFill>
                <a:latin typeface="Aptos"/>
              </a:rPr>
              <a:t>6</a:t>
            </a:fld>
            <a:endParaRPr lang="en-US" sz="1000">
              <a:solidFill>
                <a:srgbClr val="1F2937"/>
              </a:solidFill>
              <a:latin typeface="Aptos"/>
            </a:endParaRPr>
          </a:p>
        </p:txBody>
      </p:sp>
    </p:spTree>
  </p:cSld>
  <p:clrMapOvr>
    <a:masterClrMapping xmlns:a="http://schemas.openxmlformats.org/drawingml/2006/main"/>
  </p:clrMapOvr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endParaRPr lang="en-US" sz="100"/>
          </a:p>
        </p:txBody>
      </p:sp>
      <p:sp>
        <p:nvSpPr>
          <p:cNvPr id="3" name="Tex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7000"/>
            <a:ext cx="10668000" cy="455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0F172A"/>
                </a:solidFill>
                <a:latin typeface="Aptos Display"/>
              </a:rPr>
              <a:t>Conceptual Matrix</a:t>
            </a:r>
            <a:endParaRPr lang="en-US" sz="2600"/>
          </a:p>
        </p:txBody>
      </p:sp>
      <p:pic>
        <p:nvPicPr>
          <p:cNvPr id="4" name="Diagram" descr="Diagram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>
            <a:extLst>
              <a:ext uri="{96DAC541-7B7A-43D3-8B79-37D633B846F1}">
                <asvg:svgBlip xmlns:r="http://schemas.openxmlformats.org/officeDocument/2006/relationships" xmlns:asvg="http://schemas.microsoft.com/office/drawing/2016/SVG/main" r:embed="R9b70bb5017af44d9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479397" y="2081530"/>
            <a:ext cx="5233206" cy="2794000"/>
          </a:xfrm>
          <a:prstGeom xmlns:a="http://schemas.openxmlformats.org/drawingml/2006/main" prst="rect">
            <a:avLst/>
          </a:prstGeom>
        </p:spPr>
      </p:pic>
      <p:sp>
        <p:nvSpPr>
          <p:cNvPr id="5" name="Tex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800"/>
            <a:ext cx="1143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1F2937"/>
                </a:solidFill>
                <a:latin typeface="Aptos"/>
              </a:rPr>
              <a:t>DiagramForge in MarpToPptx</a:t>
            </a:r>
            <a:endParaRPr lang="en-US" sz="1000"/>
          </a:p>
        </p:txBody>
      </p:sp>
      <p:sp>
        <p:nvSpPr>
          <p:cNvPr id="6" name="Tex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604000"/>
            <a:ext cx="1056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1F2937"/>
                </a:solidFill>
                <a:latin typeface="Aptos"/>
              </a:rPr>
              <a:t>Mermaid and diagram fences</a:t>
            </a:r>
            <a:endParaRPr lang="en-US" sz="1000"/>
          </a:p>
        </p:txBody>
      </p:sp>
      <p:sp>
        <p:nvSpPr>
          <p:cNvPr id="7" name="Slide Numb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04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pPr algn="r"/>
            <a:fld id="{072BC52F-4D89-4ACB-A406-13E1D72EF67B}" type="slidenum">
              <a:rPr lang="en-US" sz="1000">
                <a:solidFill>
                  <a:srgbClr val="1F2937"/>
                </a:solidFill>
                <a:latin typeface="Aptos"/>
              </a:rPr>
              <a:t>7</a:t>
            </a:fld>
            <a:endParaRPr lang="en-US" sz="1000">
              <a:solidFill>
                <a:srgbClr val="1F2937"/>
              </a:solidFill>
              <a:latin typeface="Aptos"/>
            </a:endParaRPr>
          </a:p>
        </p:txBody>
      </p:sp>
    </p:spTree>
  </p:cSld>
  <p:clrMapOvr>
    <a:masterClrMapping xmlns:a="http://schemas.openxmlformats.org/drawingml/2006/main"/>
  </p:clrMapOvr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endParaRPr lang="en-US" sz="100"/>
          </a:p>
        </p:txBody>
      </p:sp>
      <p:sp>
        <p:nvSpPr>
          <p:cNvPr id="3" name="Tex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10668000" cy="439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0F172A"/>
                </a:solidFill>
                <a:latin typeface="Aptos Display"/>
              </a:rPr>
              <a:t>Conceptual Matrix With Prism Theme</a:t>
            </a:r>
            <a:endParaRPr lang="en-US" sz="2600"/>
          </a:p>
        </p:txBody>
      </p:sp>
      <p:sp>
        <p:nvSpPr>
          <p:cNvPr id="4" name="Tex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76020"/>
            <a:ext cx="10668000" cy="89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r>
              <a:rPr lang="en-US" sz="2400" b="0">
                <a:solidFill>
                  <a:srgbClr val="1F2937"/>
                </a:solidFill>
                <a:latin typeface="Aptos"/>
              </a:rPr>
              <a:t>This conceptual diagram uses DiagramForge frontmatter to apply the built-in Prism theme inside the fenced block.</a:t>
            </a:r>
            <a:endParaRPr lang="en-US" sz="2400"/>
          </a:p>
        </p:txBody>
      </p:sp>
      <p:pic>
        <p:nvPicPr>
          <p:cNvPr id="5" name="Diagram" descr="Diagram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>
            <a:extLst>
              <a:ext uri="{96DAC541-7B7A-43D3-8B79-37D633B846F1}">
                <asvg:svgBlip xmlns:r="http://schemas.openxmlformats.org/officeDocument/2006/relationships" xmlns:asvg="http://schemas.microsoft.com/office/drawing/2016/SVG/main" r:embed="R794e86589b464eb5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479397" y="2227580"/>
            <a:ext cx="5233206" cy="2794000"/>
          </a:xfrm>
          <a:prstGeom xmlns:a="http://schemas.openxmlformats.org/drawingml/2006/main" prst="rect">
            <a:avLst/>
          </a:prstGeom>
        </p:spPr>
      </p:pic>
      <p:sp>
        <p:nvSpPr>
          <p:cNvPr id="6" name="Tex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800"/>
            <a:ext cx="1143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1F2937"/>
                </a:solidFill>
                <a:latin typeface="Aptos"/>
              </a:rPr>
              <a:t>DiagramForge in MarpToPptx</a:t>
            </a:r>
            <a:endParaRPr lang="en-US" sz="1000"/>
          </a:p>
        </p:txBody>
      </p:sp>
      <p:sp>
        <p:nvSpPr>
          <p:cNvPr id="7" name="Tex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604000"/>
            <a:ext cx="1056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1F2937"/>
                </a:solidFill>
                <a:latin typeface="Aptos"/>
              </a:rPr>
              <a:t>Mermaid and diagram fences</a:t>
            </a:r>
            <a:endParaRPr lang="en-US" sz="1000"/>
          </a:p>
        </p:txBody>
      </p:sp>
      <p:sp>
        <p:nvSpPr>
          <p:cNvPr id="8" name="Slide Numb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04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pPr algn="r"/>
            <a:fld id="{3F3A9646-EC23-4873-AA51-D119567F92B3}" type="slidenum">
              <a:rPr lang="en-US" sz="1000">
                <a:solidFill>
                  <a:srgbClr val="1F2937"/>
                </a:solidFill>
                <a:latin typeface="Aptos"/>
              </a:rPr>
              <a:t>8</a:t>
            </a:fld>
            <a:endParaRPr lang="en-US" sz="1000">
              <a:solidFill>
                <a:srgbClr val="1F2937"/>
              </a:solidFill>
              <a:latin typeface="Aptos"/>
            </a:endParaRPr>
          </a:p>
        </p:txBody>
      </p:sp>
    </p:spTree>
  </p:cSld>
  <p:clrMapOvr>
    <a:masterClrMapping xmlns:a="http://schemas.openxmlformats.org/drawingml/2006/main"/>
  </p:clrMapOvr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endParaRPr lang="en-US" sz="100"/>
          </a:p>
        </p:txBody>
      </p:sp>
      <p:sp>
        <p:nvSpPr>
          <p:cNvPr id="3" name="Tex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7000"/>
            <a:ext cx="10668000" cy="455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0F172A"/>
                </a:solidFill>
                <a:latin typeface="Aptos Display"/>
              </a:rPr>
              <a:t>Conceptual Pyramid</a:t>
            </a:r>
            <a:endParaRPr lang="en-US" sz="2600"/>
          </a:p>
        </p:txBody>
      </p:sp>
      <p:pic>
        <p:nvPicPr>
          <p:cNvPr id="4" name="Diagram" descr="Diagram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>
            <a:extLst>
              <a:ext uri="{96DAC541-7B7A-43D3-8B79-37D633B846F1}">
                <asvg:svgBlip xmlns:r="http://schemas.openxmlformats.org/officeDocument/2006/relationships" xmlns:asvg="http://schemas.microsoft.com/office/drawing/2016/SVG/main" r:embed="R44862ec1c2064e8a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389929" y="2081530"/>
            <a:ext cx="3412142" cy="2794000"/>
          </a:xfrm>
          <a:prstGeom xmlns:a="http://schemas.openxmlformats.org/drawingml/2006/main" prst="rect">
            <a:avLst/>
          </a:prstGeom>
        </p:spPr>
      </p:pic>
      <p:sp>
        <p:nvSpPr>
          <p:cNvPr id="5" name="Tex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800"/>
            <a:ext cx="1143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1F2937"/>
                </a:solidFill>
                <a:latin typeface="Aptos"/>
              </a:rPr>
              <a:t>DiagramForge in MarpToPptx</a:t>
            </a:r>
            <a:endParaRPr lang="en-US" sz="1000"/>
          </a:p>
        </p:txBody>
      </p:sp>
      <p:sp>
        <p:nvSpPr>
          <p:cNvPr id="6" name="Tex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604000"/>
            <a:ext cx="1056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1F2937"/>
                </a:solidFill>
                <a:latin typeface="Aptos"/>
              </a:rPr>
              <a:t>Mermaid and diagram fences</a:t>
            </a:r>
            <a:endParaRPr lang="en-US" sz="1000"/>
          </a:p>
        </p:txBody>
      </p:sp>
      <p:sp>
        <p:nvSpPr>
          <p:cNvPr id="7" name="Slide Numb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04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pPr algn="r"/>
            <a:fld id="{F4025FBA-164A-46B5-BD21-F1440E5F675A}" type="slidenum">
              <a:rPr lang="en-US" sz="1000">
                <a:solidFill>
                  <a:srgbClr val="1F2937"/>
                </a:solidFill>
                <a:latin typeface="Aptos"/>
              </a:rPr>
              <a:t>9</a:t>
            </a:fld>
            <a:endParaRPr lang="en-US" sz="1000">
              <a:solidFill>
                <a:srgbClr val="1F2937"/>
              </a:solidFill>
              <a:latin typeface="Aptos"/>
            </a:endParaRPr>
          </a:p>
        </p:txBody>
      </p:sp>
    </p:spTree>
  </p:cSld>
  <p:clrMapOvr>
    <a:masterClrMapping xmlns:a="http://schemas.openxmlformats.org/drawingml/2006/main"/>
  </p:clrMapOvr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endParaRPr lang="en-US" sz="100"/>
          </a:p>
        </p:txBody>
      </p:sp>
      <p:sp>
        <p:nvSpPr>
          <p:cNvPr id="3" name="Tex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7000"/>
            <a:ext cx="10668000" cy="455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0F172A"/>
                </a:solidFill>
                <a:latin typeface="Aptos Display"/>
              </a:rPr>
              <a:t>Conceptual Pyramid With Dracula Theme</a:t>
            </a:r>
            <a:endParaRPr lang="en-US" sz="2600"/>
          </a:p>
        </p:txBody>
      </p:sp>
      <p:pic>
        <p:nvPicPr>
          <p:cNvPr id="4" name="Diagram" descr="Diagram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>
            <a:extLst>
              <a:ext uri="{96DAC541-7B7A-43D3-8B79-37D633B846F1}">
                <asvg:svgBlip xmlns:r="http://schemas.openxmlformats.org/officeDocument/2006/relationships" xmlns:asvg="http://schemas.microsoft.com/office/drawing/2016/SVG/main" r:embed="Rcb6e47ab8b4b4f36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389929" y="2081530"/>
            <a:ext cx="3412142" cy="2794000"/>
          </a:xfrm>
          <a:prstGeom xmlns:a="http://schemas.openxmlformats.org/drawingml/2006/main" prst="rect">
            <a:avLst/>
          </a:prstGeom>
        </p:spPr>
      </p:pic>
      <p:sp>
        <p:nvSpPr>
          <p:cNvPr id="5" name="Tex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800"/>
            <a:ext cx="1143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1F2937"/>
                </a:solidFill>
                <a:latin typeface="Aptos"/>
              </a:rPr>
              <a:t>DiagramForge in MarpToPptx</a:t>
            </a:r>
            <a:endParaRPr lang="en-US" sz="1000"/>
          </a:p>
        </p:txBody>
      </p:sp>
      <p:sp>
        <p:nvSpPr>
          <p:cNvPr id="6" name="Tex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604000"/>
            <a:ext cx="1056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1F2937"/>
                </a:solidFill>
                <a:latin typeface="Aptos"/>
              </a:rPr>
              <a:t>Mermaid and diagram fences</a:t>
            </a:r>
            <a:endParaRPr lang="en-US" sz="1000"/>
          </a:p>
        </p:txBody>
      </p:sp>
      <p:sp>
        <p:nvSpPr>
          <p:cNvPr id="7" name="Slide Numb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04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pPr algn="r"/>
            <a:fld id="{9B5641B5-E43B-4907-9550-5679070C2E68}" type="slidenum">
              <a:rPr lang="en-US" sz="1000">
                <a:solidFill>
                  <a:srgbClr val="1F2937"/>
                </a:solidFill>
                <a:latin typeface="Aptos"/>
              </a:rPr>
              <a:t>10</a:t>
            </a:fld>
            <a:endParaRPr lang="en-US" sz="1000">
              <a:solidFill>
                <a:srgbClr val="1F2937"/>
              </a:solidFill>
              <a:latin typeface="Aptos"/>
            </a:endParaRPr>
          </a:p>
        </p:txBody>
      </p:sp>
    </p:spTree>
  </p:cSld>
  <p:clrMapOvr>
    <a:masterClrMapping xmlns:a="http://schemas.openxmlformats.org/drawingml/2006/main"/>
  </p:clrMapOvr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endParaRPr lang="en-US" sz="100"/>
          </a:p>
        </p:txBody>
      </p:sp>
      <p:sp>
        <p:nvSpPr>
          <p:cNvPr id="3" name="Tex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7000"/>
            <a:ext cx="10668000" cy="455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0F172A"/>
                </a:solidFill>
                <a:latin typeface="Aptos Display"/>
              </a:rPr>
              <a:t>Conceptual Pillars</a:t>
            </a:r>
            <a:endParaRPr lang="en-US" sz="2600"/>
          </a:p>
        </p:txBody>
      </p:sp>
      <p:pic>
        <p:nvPicPr>
          <p:cNvPr id="4" name="Diagram" descr="Diagram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>
            <a:extLst>
              <a:ext uri="{96DAC541-7B7A-43D3-8B79-37D633B846F1}">
                <asvg:svgBlip xmlns:r="http://schemas.openxmlformats.org/officeDocument/2006/relationships" xmlns:asvg="http://schemas.microsoft.com/office/drawing/2016/SVG/main" r:embed="Ra9611a3004ff45ee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0" y="2168941"/>
            <a:ext cx="10668000" cy="2619178"/>
          </a:xfrm>
          <a:prstGeom xmlns:a="http://schemas.openxmlformats.org/drawingml/2006/main" prst="rect">
            <a:avLst/>
          </a:prstGeom>
        </p:spPr>
      </p:pic>
      <p:sp>
        <p:nvSpPr>
          <p:cNvPr id="5" name="Tex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800"/>
            <a:ext cx="1143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1F2937"/>
                </a:solidFill>
                <a:latin typeface="Aptos"/>
              </a:rPr>
              <a:t>DiagramForge in MarpToPptx</a:t>
            </a:r>
            <a:endParaRPr lang="en-US" sz="1000"/>
          </a:p>
        </p:txBody>
      </p:sp>
      <p:sp>
        <p:nvSpPr>
          <p:cNvPr id="6" name="Tex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604000"/>
            <a:ext cx="1056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1F2937"/>
                </a:solidFill>
                <a:latin typeface="Aptos"/>
              </a:rPr>
              <a:t>Mermaid and diagram fences</a:t>
            </a:r>
            <a:endParaRPr lang="en-US" sz="1000"/>
          </a:p>
        </p:txBody>
      </p:sp>
      <p:sp>
        <p:nvSpPr>
          <p:cNvPr id="7" name="Slide Numb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04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pPr algn="r"/>
            <a:fld id="{D0EE6132-A1A2-4D5B-875A-19E316B23120}" type="slidenum">
              <a:rPr lang="en-US" sz="1000">
                <a:solidFill>
                  <a:srgbClr val="1F2937"/>
                </a:solidFill>
                <a:latin typeface="Aptos"/>
              </a:rPr>
              <a:t>11</a:t>
            </a:fld>
            <a:endParaRPr lang="en-US" sz="1000">
              <a:solidFill>
                <a:srgbClr val="1F2937"/>
              </a:solidFill>
              <a:latin typeface="Aptos"/>
            </a:endParaRPr>
          </a:p>
        </p:txBody>
      </p:sp>
    </p:spTree>
  </p:cSld>
  <p:clrMapOvr>
    <a:masterClrMapping xmlns:a="http://schemas.openxmlformats.org/drawingml/2006/main"/>
  </p:clrMapOvr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endParaRPr lang="en-US" sz="100"/>
          </a:p>
        </p:txBody>
      </p:sp>
      <p:sp>
        <p:nvSpPr>
          <p:cNvPr id="3" name="Tex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10668000" cy="439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0F172A"/>
                </a:solidFill>
                <a:latin typeface="Aptos Display"/>
              </a:rPr>
              <a:t>Conceptual Pillars With Presentation Theme</a:t>
            </a:r>
            <a:endParaRPr lang="en-US" sz="2600"/>
          </a:p>
        </p:txBody>
      </p:sp>
      <p:sp>
        <p:nvSpPr>
          <p:cNvPr id="4" name="Tex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76020"/>
            <a:ext cx="10668000" cy="89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r>
              <a:rPr lang="en-US" sz="2400" b="0">
                <a:solidFill>
                  <a:srgbClr val="1F2937"/>
                </a:solidFill>
                <a:latin typeface="Aptos"/>
              </a:rPr>
              <a:t>This conceptual diagram uses DiagramForge frontmatter to apply the built-in Presentation theme inside the fenced block.</a:t>
            </a:r>
            <a:endParaRPr lang="en-US" sz="2400"/>
          </a:p>
        </p:txBody>
      </p:sp>
      <p:pic>
        <p:nvPicPr>
          <p:cNvPr id="5" name="Diagram" descr="Diagram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>
            <a:extLst>
              <a:ext uri="{96DAC541-7B7A-43D3-8B79-37D633B846F1}">
                <asvg:svgBlip xmlns:r="http://schemas.openxmlformats.org/officeDocument/2006/relationships" xmlns:asvg="http://schemas.microsoft.com/office/drawing/2016/SVG/main" r:embed="R183e06132b2f4736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0" y="2418429"/>
            <a:ext cx="10668000" cy="2412303"/>
          </a:xfrm>
          <a:prstGeom xmlns:a="http://schemas.openxmlformats.org/drawingml/2006/main" prst="rect">
            <a:avLst/>
          </a:prstGeom>
        </p:spPr>
      </p:pic>
      <p:sp>
        <p:nvSpPr>
          <p:cNvPr id="6" name="Tex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800"/>
            <a:ext cx="1143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1F2937"/>
                </a:solidFill>
                <a:latin typeface="Aptos"/>
              </a:rPr>
              <a:t>DiagramForge in MarpToPptx</a:t>
            </a:r>
            <a:endParaRPr lang="en-US" sz="1000"/>
          </a:p>
        </p:txBody>
      </p:sp>
      <p:sp>
        <p:nvSpPr>
          <p:cNvPr id="7" name="Tex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604000"/>
            <a:ext cx="1056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1F2937"/>
                </a:solidFill>
                <a:latin typeface="Aptos"/>
              </a:rPr>
              <a:t>Mermaid and diagram fences</a:t>
            </a:r>
            <a:endParaRPr lang="en-US" sz="1000"/>
          </a:p>
        </p:txBody>
      </p:sp>
      <p:sp>
        <p:nvSpPr>
          <p:cNvPr id="8" name="Slide Numb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04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pPr algn="r"/>
            <a:fld id="{AB0DF696-E2DA-434F-B0F4-D98E9E910C35}" type="slidenum">
              <a:rPr lang="en-US" sz="1000">
                <a:solidFill>
                  <a:srgbClr val="1F2937"/>
                </a:solidFill>
                <a:latin typeface="Aptos"/>
              </a:rPr>
              <a:t>12</a:t>
            </a:fld>
            <a:endParaRPr lang="en-US" sz="1000">
              <a:solidFill>
                <a:srgbClr val="1F2937"/>
              </a:solidFill>
              <a:latin typeface="Aptos"/>
            </a:endParaRPr>
          </a:p>
        </p:txBody>
      </p:sp>
    </p:spTree>
  </p:cSld>
  <p:clrMapOvr>
    <a:masterClrMapping xmlns:a="http://schemas.openxmlformats.org/drawingml/2006/main"/>
  </p:clrMapOvr>
</p:sld>
</file>

<file path=ppt/theme/theme1.xml><?xml version="1.0" encoding="utf-8"?>
<a:theme xmlns:a="http://schemas.openxmlformats.org/drawingml/2006/main" name="MarpToPptx Theme">
  <a:themeElements>
    <a:clrScheme name="MarpToPptx">
      <a:dk1>
        <a:sysClr val="windowText" lastClr="000000"/>
      </a:dk1>
      <a:lt1>
        <a:sysClr val="window" lastClr="FFFFFF"/>
      </a:lt1>
      <a:dk2>
        <a:srgbClr val="1F2937"/>
      </a:dk2>
      <a:lt2>
        <a:srgbClr val="F8FAFC"/>
      </a:lt2>
      <a:accent1>
        <a:srgbClr val="0F766E"/>
      </a:accent1>
      <a:accent2>
        <a:srgbClr val="2563EB"/>
      </a:accent2>
      <a:accent3>
        <a:srgbClr val="F59E0B"/>
      </a:accent3>
      <a:accent4>
        <a:srgbClr val="DC262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MarpToPptx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MarpToPptx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noFill/>
        <a:pattFill/>
        <a:grpFill/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50000">
              <a:schemeClr val="phClr">
                <a:tint val="50000"/>
                <a:satMod val="300000"/>
              </a:schemeClr>
            </a:gs>
            <a:gs pos="100000">
              <a:schemeClr val="phClr">
                <a:tint val="50000"/>
                <a:satMod val="30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50000"/>
                <a:satMod val="300000"/>
              </a:schemeClr>
            </a:gs>
            <a:gs pos="100000">
              <a:schemeClr val="phClr">
                <a:tint val="50000"/>
                <a:satMod val="300000"/>
              </a:schemeClr>
            </a:gs>
          </a:gsLst>
          <a:lin ang="16200000" scaled="1"/>
        </a:gradFill>
        <a:noFill/>
        <a:pattFill/>
        <a:grpFill/>
      </a:bgFillStyleLst>
    </a:fmtScheme>
  </a:themeElements>
  <a:objectDefaults/>
  <a:extraClrSchemeLst/>
</a:theme>
</file>

<file path=docProps/app.xml><?xml version="1.0" encoding="utf-8"?>
<Properties xmlns:vt="http://schemas.openxmlformats.org/officeDocument/2006/docPropsVTypes" xmlns="http://schemas.openxmlformats.org/officeDocument/2006/extended-properties">
  <TotalTime>0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Aptos</vt:lpstr>
      <vt:lpstr>Aptos Display</vt:lpstr>
      <vt:lpstr>MarpToPptx Theme</vt:lpstr>
      <vt:lpstr>Diagram Showcase</vt:lpstr>
      <vt:lpstr>Mermaid Flowchart</vt:lpstr>
      <vt:lpstr>Mermaid Block Diagram</vt:lpstr>
      <vt:lpstr>Mermaid State Diagram</vt:lpstr>
      <vt:lpstr>Mermaid Mindmap</vt:lpstr>
      <vt:lpstr>Mermaid With Dracula Theme</vt:lpstr>
      <vt:lpstr>Conceptual Matrix</vt:lpstr>
      <vt:lpstr>Conceptual Matrix With Prism Theme</vt:lpstr>
      <vt:lpstr>Conceptual Pyramid</vt:lpstr>
      <vt:lpstr>Conceptual Pyramid With Dracula Theme</vt:lpstr>
      <vt:lpstr>Conceptual Pillars</vt:lpstr>
      <vt:lpstr>Conceptual Pillars With Presentation Theme</vt:lpstr>
    </vt:vector>
  </TitlesOfParts>
  <Company>Created by MarpToPptx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Diagram Showcase</dc:title>
  <dc:subject>PowerPoint Presentation</dc:subject>
  <dc:creator>MarpToPptx</dc:creator>
  <cp:lastModifiedBy>MarpToPptx</cp:lastModifiedBy>
  <cp:revision>1</cp:revision>
  <dcterms:created xsi:type="dcterms:W3CDTF">2026-03-14T08:33:59Z</dcterms:created>
  <dcterms:modified xsi:type="dcterms:W3CDTF">2026-03-14T08:33:59Z</dcterms:modified>
</cp:coreProperties>
</file>